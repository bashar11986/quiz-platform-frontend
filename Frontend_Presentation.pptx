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3.png"/><Relationship Id="rId8" Type="http://schemas.openxmlformats.org/officeDocument/2006/relationships/image" Target="../media/image9.png"/><Relationship Id="rId9" Type="http://schemas.openxmlformats.org/officeDocument/2006/relationships/image" Target="../media/image2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24360" y="0"/>
            <a:ext cx="164592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10896" y="493776"/>
            <a:ext cx="4114800" cy="169164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457200"/>
            <a:ext cx="4114800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57200"/>
            <a:ext cx="4114800" cy="16916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10896" y="2322576"/>
            <a:ext cx="4114800" cy="169164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2286000"/>
            <a:ext cx="4114800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8_admin_quizz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286000"/>
            <a:ext cx="4114800" cy="169164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10896" y="4151376"/>
            <a:ext cx="4114800" cy="169164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4114800"/>
            <a:ext cx="4114800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6_student_attemp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4114800"/>
            <a:ext cx="4114800" cy="16916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480560" y="1371600"/>
            <a:ext cx="74980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3800" b="1" i="0">
                <a:solidFill>
                  <a:srgbClr val="FFFFFF"/>
                </a:solidFill>
                <a:latin typeface="Arial"/>
              </a:rPr>
              <a:t>منصة الاختبارات الإلكترونية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331720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2200" b="0" i="1">
                <a:solidFill>
                  <a:srgbClr val="06B6D4"/>
                </a:solidFill>
                <a:latin typeface="Arial"/>
              </a:rPr>
              <a:t>واجهة المستخدم الأمامية — Frontend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0" y="3017520"/>
            <a:ext cx="548640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3154680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500" b="0" i="0">
                <a:solidFill>
                  <a:srgbClr val="DBEAFE"/>
                </a:solidFill>
                <a:latin typeface="Arial"/>
              </a:rPr>
              <a:t>Next.js 16  ·  React 19  ·  TypeScript  ·  Tailwind CSS v4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657600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400" b="0" i="0">
                <a:solidFill>
                  <a:srgbClr val="DBEAFE"/>
                </a:solidFill>
                <a:latin typeface="Arial"/>
              </a:rPr>
              <a:t>2025 — مشروع تخرج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0A1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649224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a:rtl="1"/>
            <a:r>
              <a:rPr sz="1100" b="0" i="0">
                <a:solidFill>
                  <a:srgbClr val="DBEAFE"/>
                </a:solidFill>
                <a:latin typeface="Arial"/>
              </a:rPr>
              <a:t>Frontend — Slide 1 / 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49224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100" b="0" i="0">
                <a:solidFill>
                  <a:srgbClr val="DBEAFE"/>
                </a:solidFill>
                <a:latin typeface="Arial"/>
              </a:rPr>
              <a:t>منصة الاختبارات الإلكترونية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2800" b="1" i="0">
                <a:solidFill>
                  <a:srgbClr val="FFFFFF"/>
                </a:solidFill>
                <a:latin typeface="Arial"/>
              </a:rPr>
              <a:t>نظرة عامة على الجزء الأمامي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1">
                <a:solidFill>
                  <a:srgbClr val="06B6D4"/>
                </a:solidFill>
                <a:latin typeface="Arial"/>
              </a:rPr>
              <a:t>11 صفحة — 3 أدوار: طالب / محاضر / مشرف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800" b="1" i="0">
                <a:solidFill>
                  <a:srgbClr val="1E3A8A"/>
                </a:solidFill>
                <a:latin typeface="Arial"/>
              </a:rPr>
              <a:t>ما الذي تم بناؤه؟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874519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>
              <a:lnSpc>
                <a:spcPct val="120000"/>
              </a:lnSpc>
            </a:pPr>
            <a:r>
              <a:rPr sz="1200">
                <a:solidFill>
                  <a:srgbClr val="2563EB"/>
                </a:solidFill>
                <a:latin typeface="Arial"/>
              </a:rPr>
              <a:t>◆  </a:t>
            </a:r>
            <a:r>
              <a:rPr sz="1400">
                <a:solidFill>
                  <a:srgbClr val="4B5563"/>
                </a:solidFill>
                <a:latin typeface="Arial"/>
              </a:rPr>
              <a:t>واجهة مستخدم متكاملة تربط الطلاب بالمحاضرين والإداريين</a:t>
            </a:r>
          </a:p>
          <a:p>
            <a:pPr algn="r" a:rtl="1">
              <a:lnSpc>
                <a:spcPct val="120000"/>
              </a:lnSpc>
            </a:pPr>
            <a:r>
              <a:rPr sz="1200">
                <a:solidFill>
                  <a:srgbClr val="2563EB"/>
                </a:solidFill>
                <a:latin typeface="Arial"/>
              </a:rPr>
              <a:t>◆  </a:t>
            </a:r>
            <a:r>
              <a:rPr sz="1400">
                <a:solidFill>
                  <a:srgbClr val="4B5563"/>
                </a:solidFill>
                <a:latin typeface="Arial"/>
              </a:rPr>
              <a:t>تتصل بـ Django REST Backend عبر Proxy داخلي</a:t>
            </a:r>
          </a:p>
          <a:p>
            <a:pPr algn="r" a:rtl="1">
              <a:lnSpc>
                <a:spcPct val="120000"/>
              </a:lnSpc>
            </a:pPr>
            <a:r>
              <a:rPr sz="1200">
                <a:solidFill>
                  <a:srgbClr val="2563EB"/>
                </a:solidFill>
                <a:latin typeface="Arial"/>
              </a:rPr>
              <a:t>◆  </a:t>
            </a:r>
            <a:r>
              <a:rPr sz="1400">
                <a:solidFill>
                  <a:srgbClr val="4B5563"/>
                </a:solidFill>
                <a:latin typeface="Arial"/>
              </a:rPr>
              <a:t>مصادقة JWT مع تجديد تلقائي للجلسة</a:t>
            </a:r>
          </a:p>
          <a:p>
            <a:pPr algn="r" a:rtl="1">
              <a:lnSpc>
                <a:spcPct val="120000"/>
              </a:lnSpc>
            </a:pPr>
            <a:r>
              <a:rPr sz="1200">
                <a:solidFill>
                  <a:srgbClr val="2563EB"/>
                </a:solidFill>
                <a:latin typeface="Arial"/>
              </a:rPr>
              <a:t>◆  </a:t>
            </a:r>
            <a:r>
              <a:rPr sz="1400">
                <a:solidFill>
                  <a:srgbClr val="4B5563"/>
                </a:solidFill>
                <a:latin typeface="Arial"/>
              </a:rPr>
              <a:t>دعم كامل للغة العربية (RTL)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474720"/>
            <a:ext cx="5486400" cy="7498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3511296"/>
            <a:ext cx="1280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300" b="1" i="0">
                <a:solidFill>
                  <a:srgbClr val="FFFFFF"/>
                </a:solidFill>
                <a:latin typeface="Arial"/>
              </a:rPr>
              <a:t>للطالب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3520440"/>
            <a:ext cx="4114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0" i="0">
                <a:solidFill>
                  <a:srgbClr val="FFFFFF"/>
                </a:solidFill>
                <a:latin typeface="Arial"/>
              </a:rPr>
              <a:t>تسجيل الدخول · أداء الاختبارات
عرض النتائج · مراجعة المحاولات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4343400"/>
            <a:ext cx="5486400" cy="7498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4379976"/>
            <a:ext cx="1280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300" b="1" i="0">
                <a:solidFill>
                  <a:srgbClr val="FFFFFF"/>
                </a:solidFill>
                <a:latin typeface="Arial"/>
              </a:rPr>
              <a:t>للمحاضر/الأدمن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4389120"/>
            <a:ext cx="4114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0" i="0">
                <a:solidFill>
                  <a:srgbClr val="FFFFFF"/>
                </a:solidFill>
                <a:latin typeface="Arial"/>
              </a:rPr>
              <a:t>إنشاء الاختبارات · إضافة الأسئلة
نشر الاختبار · عرض نتائج الطلاب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5212080"/>
            <a:ext cx="5486400" cy="7498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5248656"/>
            <a:ext cx="1280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300" b="1" i="0">
                <a:solidFill>
                  <a:srgbClr val="FFFFFF"/>
                </a:solidFill>
                <a:latin typeface="Arial"/>
              </a:rPr>
              <a:t>تقني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5257800"/>
            <a:ext cx="4114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0" i="0">
                <a:solidFill>
                  <a:srgbClr val="FFFFFF"/>
                </a:solidFill>
                <a:latin typeface="Arial"/>
              </a:rPr>
              <a:t>App Router · JWT · Proxy API
Refresh Token تلقائي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63056" y="1408176"/>
            <a:ext cx="2834640" cy="24231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1371600"/>
            <a:ext cx="2834640" cy="2423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01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371600"/>
            <a:ext cx="2834640" cy="242316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9134856" y="1408176"/>
            <a:ext cx="2834640" cy="24231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98280" y="1371600"/>
            <a:ext cx="2834640" cy="2423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03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1371600"/>
            <a:ext cx="2834640" cy="242316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6163056" y="3968496"/>
            <a:ext cx="2834640" cy="24231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80" y="3931920"/>
            <a:ext cx="2834640" cy="2423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06_student_attemp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3931920"/>
            <a:ext cx="2834640" cy="242316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9134856" y="3968496"/>
            <a:ext cx="2834640" cy="24231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98280" y="3931920"/>
            <a:ext cx="2834640" cy="2423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11_quiz_resul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8280" y="3931920"/>
            <a:ext cx="2834640" cy="2423160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0A1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649224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a:rtl="1"/>
            <a:r>
              <a:rPr sz="1100" b="0" i="0">
                <a:solidFill>
                  <a:srgbClr val="DBEAFE"/>
                </a:solidFill>
                <a:latin typeface="Arial"/>
              </a:rPr>
              <a:t>Frontend — Slide 2 / 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0" y="649224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100" b="0" i="0">
                <a:solidFill>
                  <a:srgbClr val="DBEAFE"/>
                </a:solidFill>
                <a:latin typeface="Arial"/>
              </a:rPr>
              <a:t>منصة الاختبارات الإلكترونية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2800" b="1" i="0">
                <a:solidFill>
                  <a:srgbClr val="FFFFFF"/>
                </a:solidFill>
                <a:latin typeface="Arial"/>
              </a:rPr>
              <a:t>التقنيات والأدوات المستخدمة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63040"/>
            <a:ext cx="3611880" cy="4754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481328"/>
            <a:ext cx="3611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500" b="1" i="0">
                <a:solidFill>
                  <a:srgbClr val="FFFFFF"/>
                </a:solidFill>
                <a:latin typeface="Arial"/>
              </a:rPr>
              <a:t>Next.js 16.2.9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938528"/>
            <a:ext cx="3611880" cy="1536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2011680"/>
            <a:ext cx="34290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1F2937"/>
                </a:solidFill>
                <a:latin typeface="Arial"/>
              </a:rPr>
              <a:t>App Router, Turbopack
API Routes, Middleware
File-based Routing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33088" y="1463040"/>
            <a:ext cx="3611880" cy="47548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33088" y="1481328"/>
            <a:ext cx="3611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500" b="1" i="0">
                <a:solidFill>
                  <a:srgbClr val="FFFFFF"/>
                </a:solidFill>
                <a:latin typeface="Arial"/>
              </a:rPr>
              <a:t>React 19.2.4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33088" y="1938528"/>
            <a:ext cx="3611880" cy="1536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24528" y="2011680"/>
            <a:ext cx="34290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1F2937"/>
                </a:solidFill>
                <a:latin typeface="Arial"/>
              </a:rPr>
              <a:t>Hooks: useState, useEffect
useParams, useRouter
Client Components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46136" y="1463040"/>
            <a:ext cx="3611880" cy="4754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46136" y="1481328"/>
            <a:ext cx="3611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500" b="1" i="0">
                <a:solidFill>
                  <a:srgbClr val="FFFFFF"/>
                </a:solidFill>
                <a:latin typeface="Arial"/>
              </a:rPr>
              <a:t>TypeScript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46136" y="1938528"/>
            <a:ext cx="3611880" cy="1536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7576" y="2011680"/>
            <a:ext cx="34290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1F2937"/>
                </a:solidFill>
                <a:latin typeface="Arial"/>
              </a:rPr>
              <a:t>Type-safe interfaces
Static typing
Generics &amp; Enums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675888"/>
            <a:ext cx="3611880" cy="4754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3694176"/>
            <a:ext cx="3611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500" b="1" i="0">
                <a:solidFill>
                  <a:srgbClr val="FFFFFF"/>
                </a:solidFill>
                <a:latin typeface="Arial"/>
              </a:rPr>
              <a:t>Tailwind CSS v4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4151376"/>
            <a:ext cx="3611880" cy="1536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4224528"/>
            <a:ext cx="34290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1F2937"/>
                </a:solidFill>
                <a:latin typeface="Arial"/>
              </a:rPr>
              <a:t>Utility-first styling
Responsive Grid
RTL &amp; Arabic support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33088" y="3675888"/>
            <a:ext cx="3611880" cy="4754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33088" y="3694176"/>
            <a:ext cx="3611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500" b="1" i="0">
                <a:solidFill>
                  <a:srgbClr val="FFFFFF"/>
                </a:solidFill>
                <a:latin typeface="Arial"/>
              </a:rPr>
              <a:t>JWT Auth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33088" y="4151376"/>
            <a:ext cx="3611880" cy="1536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24528" y="4224528"/>
            <a:ext cx="34290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1F2937"/>
                </a:solidFill>
                <a:latin typeface="Arial"/>
              </a:rPr>
              <a:t>Access + Refresh Tokens
localStorage + Cookie
Silent Refresh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46136" y="3675888"/>
            <a:ext cx="3611880" cy="475488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46136" y="3694176"/>
            <a:ext cx="3611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500" b="1" i="0">
                <a:solidFill>
                  <a:srgbClr val="FFFFFF"/>
                </a:solidFill>
                <a:latin typeface="Arial"/>
              </a:rPr>
              <a:t>API Proxy Catch-all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46136" y="4151376"/>
            <a:ext cx="3611880" cy="1536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37576" y="4224528"/>
            <a:ext cx="34290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1F2937"/>
                </a:solidFill>
                <a:latin typeface="Arial"/>
              </a:rPr>
              <a:t>CORS bypass
Trailing slash handling
Django REST Backend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0A1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649224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a:rtl="1"/>
            <a:r>
              <a:rPr sz="1100" b="0" i="0">
                <a:solidFill>
                  <a:srgbClr val="DBEAFE"/>
                </a:solidFill>
                <a:latin typeface="Arial"/>
              </a:rPr>
              <a:t>Frontend — Slide 3 / 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0" y="649224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100" b="0" i="0">
                <a:solidFill>
                  <a:srgbClr val="DBEAFE"/>
                </a:solidFill>
                <a:latin typeface="Arial"/>
              </a:rPr>
              <a:t>منصة الاختبارات الإلكترونية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2800" b="1" i="0">
                <a:solidFill>
                  <a:srgbClr val="FFFFFF"/>
                </a:solidFill>
                <a:latin typeface="Arial"/>
              </a:rPr>
              <a:t>المصادقة وإدارة الجلسة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1">
                <a:solidFill>
                  <a:srgbClr val="06B6D4"/>
                </a:solidFill>
                <a:latin typeface="Arial"/>
              </a:rPr>
              <a:t>تسجيل الدخول · إنشاء حساب · تجديد الجلسة تلقائياً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371600"/>
            <a:ext cx="5806440" cy="50292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417320"/>
            <a:ext cx="5577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500" b="1" i="0">
                <a:solidFill>
                  <a:srgbClr val="1E3A8A"/>
                </a:solidFill>
                <a:latin typeface="Arial"/>
              </a:rPr>
              <a:t>صفحة تسجيل الدخول  /login</a:t>
            </a:r>
          </a:p>
        </p:txBody>
      </p:sp>
      <p:sp>
        <p:nvSpPr>
          <p:cNvPr id="9" name="Rectangle 8"/>
          <p:cNvSpPr/>
          <p:nvPr/>
        </p:nvSpPr>
        <p:spPr>
          <a:xfrm>
            <a:off x="6345936" y="1956816"/>
            <a:ext cx="2926080" cy="21945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920240"/>
            <a:ext cx="292608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1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920240"/>
            <a:ext cx="2926080" cy="21945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281160" y="1920240"/>
            <a:ext cx="26060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>
              <a:lnSpc>
                <a:spcPct val="120000"/>
              </a:lnSpc>
            </a:pPr>
            <a:r>
              <a:rPr sz="1000">
                <a:solidFill>
                  <a:srgbClr val="2563EB"/>
                </a:solidFill>
                <a:latin typeface="Arial"/>
              </a:rPr>
              <a:t>◆  </a:t>
            </a:r>
            <a:r>
              <a:rPr sz="1200">
                <a:solidFill>
                  <a:srgbClr val="4B5563"/>
                </a:solidFill>
                <a:latin typeface="Arial"/>
              </a:rPr>
              <a:t>POST /api/auth/login/</a:t>
            </a:r>
          </a:p>
          <a:p>
            <a:pPr algn="r" a:rtl="1">
              <a:lnSpc>
                <a:spcPct val="120000"/>
              </a:lnSpc>
            </a:pPr>
            <a:r>
              <a:rPr sz="1000">
                <a:solidFill>
                  <a:srgbClr val="2563EB"/>
                </a:solidFill>
                <a:latin typeface="Arial"/>
              </a:rPr>
              <a:t>◆  </a:t>
            </a:r>
            <a:r>
              <a:rPr sz="1200">
                <a:solidFill>
                  <a:srgbClr val="4B5563"/>
                </a:solidFill>
                <a:latin typeface="Arial"/>
              </a:rPr>
              <a:t>تخزين: access_token, refresh_token</a:t>
            </a:r>
          </a:p>
          <a:p>
            <a:pPr algn="r" a:rtl="1">
              <a:lnSpc>
                <a:spcPct val="120000"/>
              </a:lnSpc>
            </a:pPr>
            <a:r>
              <a:rPr sz="1000">
                <a:solidFill>
                  <a:srgbClr val="2563EB"/>
                </a:solidFill>
                <a:latin typeface="Arial"/>
              </a:rPr>
              <a:t>◆  </a:t>
            </a:r>
            <a:r>
              <a:rPr sz="1200">
                <a:solidFill>
                  <a:srgbClr val="4B5563"/>
                </a:solidFill>
                <a:latin typeface="Arial"/>
              </a:rPr>
              <a:t>Cookie للـ Middleware + userRole</a:t>
            </a:r>
          </a:p>
          <a:p>
            <a:pPr algn="r" a:rtl="1">
              <a:lnSpc>
                <a:spcPct val="120000"/>
              </a:lnSpc>
            </a:pPr>
            <a:r>
              <a:rPr sz="1000">
                <a:solidFill>
                  <a:srgbClr val="2563EB"/>
                </a:solidFill>
                <a:latin typeface="Arial"/>
              </a:rPr>
              <a:t>◆  </a:t>
            </a:r>
            <a:r>
              <a:rPr sz="1200">
                <a:solidFill>
                  <a:srgbClr val="4B5563"/>
                </a:solidFill>
                <a:latin typeface="Arial"/>
              </a:rPr>
              <a:t>Toast للنجاح والخطأ</a:t>
            </a:r>
          </a:p>
          <a:p>
            <a:pPr algn="r" a:rtl="1">
              <a:lnSpc>
                <a:spcPct val="120000"/>
              </a:lnSpc>
            </a:pPr>
            <a:r>
              <a:rPr sz="1000">
                <a:solidFill>
                  <a:srgbClr val="2563EB"/>
                </a:solidFill>
                <a:latin typeface="Arial"/>
              </a:rPr>
              <a:t>◆  </a:t>
            </a:r>
            <a:r>
              <a:rPr sz="1200">
                <a:solidFill>
                  <a:srgbClr val="4B5563"/>
                </a:solidFill>
                <a:latin typeface="Arial"/>
              </a:rPr>
              <a:t>رابط → /register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1371600"/>
            <a:ext cx="5760720" cy="5029200"/>
          </a:xfrm>
          <a:prstGeom prst="rect">
            <a:avLst/>
          </a:prstGeom>
          <a:solidFill>
            <a:srgbClr val="ECF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1417320"/>
            <a:ext cx="5577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500" b="1" i="0">
                <a:solidFill>
                  <a:srgbClr val="059669"/>
                </a:solidFill>
                <a:latin typeface="Arial"/>
              </a:rPr>
              <a:t>صفحة إنشاء حساب  /register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6616" y="1956816"/>
            <a:ext cx="2926080" cy="21945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1920240"/>
            <a:ext cx="292608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02_regi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920240"/>
            <a:ext cx="2926080" cy="21945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291840" y="1920240"/>
            <a:ext cx="2560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>
              <a:lnSpc>
                <a:spcPct val="120000"/>
              </a:lnSpc>
            </a:pPr>
            <a:r>
              <a:rPr sz="1000">
                <a:solidFill>
                  <a:srgbClr val="059669"/>
                </a:solidFill>
                <a:latin typeface="Arial"/>
              </a:rPr>
              <a:t>◆  </a:t>
            </a:r>
            <a:r>
              <a:rPr sz="1200">
                <a:solidFill>
                  <a:srgbClr val="4B5563"/>
                </a:solidFill>
                <a:latin typeface="Arial"/>
              </a:rPr>
              <a:t>POST /api/auth/register/</a:t>
            </a:r>
          </a:p>
          <a:p>
            <a:pPr algn="r" a:rtl="1">
              <a:lnSpc>
                <a:spcPct val="120000"/>
              </a:lnSpc>
            </a:pPr>
            <a:r>
              <a:rPr sz="1000">
                <a:solidFill>
                  <a:srgbClr val="059669"/>
                </a:solidFill>
                <a:latin typeface="Arial"/>
              </a:rPr>
              <a:t>◆  </a:t>
            </a:r>
            <a:r>
              <a:rPr sz="1200">
                <a:solidFill>
                  <a:srgbClr val="4B5563"/>
                </a:solidFill>
                <a:latin typeface="Arial"/>
              </a:rPr>
              <a:t>حقول: الاسم، المستخدم، البريد، التخصص</a:t>
            </a:r>
          </a:p>
          <a:p>
            <a:pPr algn="r" a:rtl="1">
              <a:lnSpc>
                <a:spcPct val="120000"/>
              </a:lnSpc>
            </a:pPr>
            <a:r>
              <a:rPr sz="1000">
                <a:solidFill>
                  <a:srgbClr val="059669"/>
                </a:solidFill>
                <a:latin typeface="Arial"/>
              </a:rPr>
              <a:t>◆  </a:t>
            </a:r>
            <a:r>
              <a:rPr sz="1200">
                <a:solidFill>
                  <a:srgbClr val="4B5563"/>
                </a:solidFill>
                <a:latin typeface="Arial"/>
              </a:rPr>
              <a:t>التحقق من تطابق كلمة المرور</a:t>
            </a:r>
          </a:p>
          <a:p>
            <a:pPr algn="r" a:rtl="1">
              <a:lnSpc>
                <a:spcPct val="120000"/>
              </a:lnSpc>
            </a:pPr>
            <a:r>
              <a:rPr sz="1000">
                <a:solidFill>
                  <a:srgbClr val="059669"/>
                </a:solidFill>
                <a:latin typeface="Arial"/>
              </a:rPr>
              <a:t>◆  </a:t>
            </a:r>
            <a:r>
              <a:rPr sz="1200">
                <a:solidFill>
                  <a:srgbClr val="4B5563"/>
                </a:solidFill>
                <a:latin typeface="Arial"/>
              </a:rPr>
              <a:t>توجيه تلقائي للـ Dashboard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4846320"/>
            <a:ext cx="11795760" cy="1463040"/>
          </a:xfrm>
          <a:prstGeom prst="rect">
            <a:avLst/>
          </a:prstGeom>
          <a:solidFill>
            <a:srgbClr val="FFF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4882896"/>
            <a:ext cx="11612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400" b="1" i="0">
                <a:solidFill>
                  <a:srgbClr val="F59E0B"/>
                </a:solidFill>
                <a:latin typeface="Arial"/>
              </a:rPr>
              <a:t>آلية التجديد التلقائي — Silent Token Refresh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5285232"/>
            <a:ext cx="11612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1F2937"/>
                </a:solidFill>
                <a:latin typeface="Arial"/>
              </a:rPr>
              <a:t>401 ← إرسال Refresh Token ← الحصول على Access جديد ← إعادة الطلب / أو مسح الجلسة والتوجيه لـ /login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0A1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649224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a:rtl="1"/>
            <a:r>
              <a:rPr sz="1100" b="0" i="0">
                <a:solidFill>
                  <a:srgbClr val="DBEAFE"/>
                </a:solidFill>
                <a:latin typeface="Arial"/>
              </a:rPr>
              <a:t>Frontend — Slide 4 / 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649224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100" b="0" i="0">
                <a:solidFill>
                  <a:srgbClr val="DBEAFE"/>
                </a:solidFill>
                <a:latin typeface="Arial"/>
              </a:rPr>
              <a:t>منصة الاختبارات الإلكترونية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2800" b="1" i="0">
                <a:solidFill>
                  <a:srgbClr val="FFFFFF"/>
                </a:solidFill>
                <a:latin typeface="Arial"/>
              </a:rPr>
              <a:t>لوحة التحكم الرئيسية وتجربة الاختبار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3657600" cy="5669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408176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300" b="1" i="0">
                <a:solidFill>
                  <a:srgbClr val="FFFFFF"/>
                </a:solidFill>
                <a:latin typeface="Arial"/>
              </a:rPr>
              <a:t>لوحة التحكم /dashboard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1463040"/>
            <a:ext cx="3840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2000" b="1" i="0">
                <a:solidFill>
                  <a:srgbClr val="2563EB"/>
                </a:solidFill>
                <a:latin typeface="Arial"/>
              </a:rPr>
              <a:t>-&gt;</a:t>
            </a:r>
          </a:p>
        </p:txBody>
      </p:sp>
      <p:sp>
        <p:nvSpPr>
          <p:cNvPr id="9" name="Rectangle 8"/>
          <p:cNvSpPr/>
          <p:nvPr/>
        </p:nvSpPr>
        <p:spPr>
          <a:xfrm>
            <a:off x="4233672" y="1371600"/>
            <a:ext cx="3657600" cy="56692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33672" y="1408176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300" b="1" i="0">
                <a:solidFill>
                  <a:srgbClr val="FFFFFF"/>
                </a:solidFill>
                <a:latin typeface="Arial"/>
              </a:rPr>
              <a:t>أداء الاختبار /quiz/[id]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91271" y="1463040"/>
            <a:ext cx="3840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2000" b="1" i="0">
                <a:solidFill>
                  <a:srgbClr val="2563EB"/>
                </a:solidFill>
                <a:latin typeface="Arial"/>
              </a:rPr>
              <a:t>-&gt;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93024" y="1371600"/>
            <a:ext cx="3657600" cy="5669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93024" y="1408176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300" b="1" i="0">
                <a:solidFill>
                  <a:srgbClr val="FFFFFF"/>
                </a:solidFill>
                <a:latin typeface="Arial"/>
              </a:rPr>
              <a:t>النتيجة /quiz/result/[id]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5176" y="2093976"/>
            <a:ext cx="7132320" cy="43434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" y="2057400"/>
            <a:ext cx="7132320" cy="434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03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057400"/>
            <a:ext cx="7132320" cy="434340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7580376" y="2093976"/>
            <a:ext cx="4434840" cy="21031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543800" y="2057400"/>
            <a:ext cx="443484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4_quiz_tak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2057400"/>
            <a:ext cx="4434840" cy="210312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7580376" y="4334256"/>
            <a:ext cx="4434840" cy="21031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543800" y="4297680"/>
            <a:ext cx="443484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05_quiz_resu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4297680"/>
            <a:ext cx="4434840" cy="21031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543800" y="4160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100" b="1" i="0">
                <a:solidFill>
                  <a:srgbClr val="059669"/>
                </a:solidFill>
                <a:latin typeface="Arial"/>
              </a:rPr>
              <a:t>بدء الاختبار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3800" y="637336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100" b="1" i="0">
                <a:solidFill>
                  <a:srgbClr val="F59E0B"/>
                </a:solidFill>
                <a:latin typeface="Arial"/>
              </a:rPr>
              <a:t>النتيجة النهائية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0A1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649224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a:rtl="1"/>
            <a:r>
              <a:rPr sz="1100" b="0" i="0">
                <a:solidFill>
                  <a:srgbClr val="DBEAFE"/>
                </a:solidFill>
                <a:latin typeface="Arial"/>
              </a:rPr>
              <a:t>Frontend — Slide 5 / 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649224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100" b="0" i="0">
                <a:solidFill>
                  <a:srgbClr val="DBEAFE"/>
                </a:solidFill>
                <a:latin typeface="Arial"/>
              </a:rPr>
              <a:t>منصة الاختبارات الإلكترونية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2800" b="1" i="0">
                <a:solidFill>
                  <a:srgbClr val="FFFFFF"/>
                </a:solidFill>
                <a:latin typeface="Arial"/>
              </a:rPr>
              <a:t>سجل محاولات الطالب ومراجعة الأسئلة</a:t>
            </a:r>
          </a:p>
        </p:txBody>
      </p:sp>
      <p:sp>
        <p:nvSpPr>
          <p:cNvPr id="6" name="Rectangle 5"/>
          <p:cNvSpPr/>
          <p:nvPr/>
        </p:nvSpPr>
        <p:spPr>
          <a:xfrm>
            <a:off x="6208776" y="1408176"/>
            <a:ext cx="5806440" cy="306324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72200" y="1371600"/>
            <a:ext cx="5806440" cy="3063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6_student_attemp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371600"/>
            <a:ext cx="5806440" cy="3063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72200" y="4462272"/>
            <a:ext cx="5806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100" b="1" i="0">
                <a:solidFill>
                  <a:srgbClr val="2563EB"/>
                </a:solidFill>
                <a:latin typeface="Arial"/>
              </a:rPr>
              <a:t>/student/attempts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08776" y="4837176"/>
            <a:ext cx="5806440" cy="1600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4800600"/>
            <a:ext cx="580644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7_attempt_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4800600"/>
            <a:ext cx="5806440" cy="1600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172200" y="6382512"/>
            <a:ext cx="5806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100" b="1" i="0">
                <a:solidFill>
                  <a:srgbClr val="7C3AED"/>
                </a:solidFill>
                <a:latin typeface="Arial"/>
              </a:rPr>
              <a:t>/student/attempts/[id]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1371600"/>
            <a:ext cx="5715000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1417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500" b="1" i="0">
                <a:solidFill>
                  <a:srgbClr val="FFFFFF"/>
                </a:solidFill>
                <a:latin typeface="Arial"/>
              </a:rPr>
              <a:t>صفحة سجل المحاولات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" y="2423160"/>
            <a:ext cx="5715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>
              <a:lnSpc>
                <a:spcPct val="120000"/>
              </a:lnSpc>
            </a:pPr>
            <a:r>
              <a:rPr sz="1100">
                <a:solidFill>
                  <a:srgbClr val="2563EB"/>
                </a:solidFill>
                <a:latin typeface="Arial"/>
              </a:rPr>
              <a:t>◆  </a:t>
            </a:r>
            <a:r>
              <a:rPr sz="1300">
                <a:solidFill>
                  <a:srgbClr val="4B5563"/>
                </a:solidFill>
                <a:latin typeface="Arial"/>
              </a:rPr>
              <a:t>GET /api/student/attempts/</a:t>
            </a:r>
          </a:p>
          <a:p>
            <a:pPr algn="r" a:rtl="1">
              <a:lnSpc>
                <a:spcPct val="120000"/>
              </a:lnSpc>
            </a:pPr>
            <a:r>
              <a:rPr sz="1100">
                <a:solidFill>
                  <a:srgbClr val="2563EB"/>
                </a:solidFill>
                <a:latin typeface="Arial"/>
              </a:rPr>
              <a:t>◆  </a:t>
            </a:r>
            <a:r>
              <a:rPr sz="1300">
                <a:solidFill>
                  <a:srgbClr val="4B5563"/>
                </a:solidFill>
                <a:latin typeface="Arial"/>
              </a:rPr>
              <a:t>4 بطاقات: إجمالي، مكتمل، متوسط، أعلى</a:t>
            </a:r>
          </a:p>
          <a:p>
            <a:pPr algn="r" a:rtl="1">
              <a:lnSpc>
                <a:spcPct val="120000"/>
              </a:lnSpc>
            </a:pPr>
            <a:r>
              <a:rPr sz="1100">
                <a:solidFill>
                  <a:srgbClr val="2563EB"/>
                </a:solidFill>
                <a:latin typeface="Arial"/>
              </a:rPr>
              <a:t>◆  </a:t>
            </a:r>
            <a:r>
              <a:rPr sz="1300">
                <a:solidFill>
                  <a:srgbClr val="4B5563"/>
                </a:solidFill>
                <a:latin typeface="Arial"/>
              </a:rPr>
              <a:t>جدول: اسم الاختبار، التاريخ، النسبة، الحالة</a:t>
            </a:r>
          </a:p>
          <a:p>
            <a:pPr algn="r" a:rtl="1">
              <a:lnSpc>
                <a:spcPct val="120000"/>
              </a:lnSpc>
            </a:pPr>
            <a:r>
              <a:rPr sz="1100">
                <a:solidFill>
                  <a:srgbClr val="2563EB"/>
                </a:solidFill>
                <a:latin typeface="Arial"/>
              </a:rPr>
              <a:t>◆  </a:t>
            </a:r>
            <a:r>
              <a:rPr sz="1300">
                <a:solidFill>
                  <a:srgbClr val="4B5563"/>
                </a:solidFill>
                <a:latin typeface="Arial"/>
              </a:rPr>
              <a:t>زر عرض النتيجة + زر مراجعة الأسئلة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3977639"/>
            <a:ext cx="5715000" cy="10058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40233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500" b="1" i="0">
                <a:solidFill>
                  <a:srgbClr val="FFFFFF"/>
                </a:solidFill>
                <a:latin typeface="Arial"/>
              </a:rPr>
              <a:t>صفحة مراجعة المحاولة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" y="5029200"/>
            <a:ext cx="5715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>
              <a:lnSpc>
                <a:spcPct val="120000"/>
              </a:lnSpc>
            </a:pPr>
            <a:r>
              <a:rPr sz="1100">
                <a:solidFill>
                  <a:srgbClr val="7C3AED"/>
                </a:solidFill>
                <a:latin typeface="Arial"/>
              </a:rPr>
              <a:t>◆  </a:t>
            </a:r>
            <a:r>
              <a:rPr sz="1300">
                <a:solidFill>
                  <a:srgbClr val="4B5563"/>
                </a:solidFill>
                <a:latin typeface="Arial"/>
              </a:rPr>
              <a:t>GET /api/student/attempts/{id}  (بدون trailing slash)</a:t>
            </a:r>
          </a:p>
          <a:p>
            <a:pPr algn="r" a:rtl="1">
              <a:lnSpc>
                <a:spcPct val="120000"/>
              </a:lnSpc>
            </a:pPr>
            <a:r>
              <a:rPr sz="1100">
                <a:solidFill>
                  <a:srgbClr val="7C3AED"/>
                </a:solidFill>
                <a:latin typeface="Arial"/>
              </a:rPr>
              <a:t>◆  </a:t>
            </a:r>
            <a:r>
              <a:rPr sz="1300">
                <a:solidFill>
                  <a:srgbClr val="4B5563"/>
                </a:solidFill>
                <a:latin typeface="Arial"/>
              </a:rPr>
              <a:t>كل سؤال مع خياراته: أخضر=صحيح، أحمر=خاطئ</a:t>
            </a:r>
          </a:p>
          <a:p>
            <a:pPr algn="r" a:rtl="1">
              <a:lnSpc>
                <a:spcPct val="120000"/>
              </a:lnSpc>
            </a:pPr>
            <a:r>
              <a:rPr sz="1100">
                <a:solidFill>
                  <a:srgbClr val="7C3AED"/>
                </a:solidFill>
                <a:latin typeface="Arial"/>
              </a:rPr>
              <a:t>◆  </a:t>
            </a:r>
            <a:r>
              <a:rPr sz="1300">
                <a:solidFill>
                  <a:srgbClr val="4B5563"/>
                </a:solidFill>
                <a:latin typeface="Arial"/>
              </a:rPr>
              <a:t>selected_choice_ids[] لتحديد اختيار الطالب</a:t>
            </a:r>
          </a:p>
          <a:p>
            <a:pPr algn="r" a:rtl="1">
              <a:lnSpc>
                <a:spcPct val="120000"/>
              </a:lnSpc>
            </a:pPr>
            <a:r>
              <a:rPr sz="1100">
                <a:solidFill>
                  <a:srgbClr val="7C3AED"/>
                </a:solidFill>
                <a:latin typeface="Arial"/>
              </a:rPr>
              <a:t>◆  </a:t>
            </a:r>
            <a:r>
              <a:rPr sz="1300">
                <a:solidFill>
                  <a:srgbClr val="4B5563"/>
                </a:solidFill>
                <a:latin typeface="Arial"/>
              </a:rPr>
              <a:t>اشتقاق الحالة من is_correct + answered_at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0A1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649224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a:rtl="1"/>
            <a:r>
              <a:rPr sz="1100" b="0" i="0">
                <a:solidFill>
                  <a:srgbClr val="DBEAFE"/>
                </a:solidFill>
                <a:latin typeface="Arial"/>
              </a:rPr>
              <a:t>Frontend — Slide 6 / 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649224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100" b="0" i="0">
                <a:solidFill>
                  <a:srgbClr val="DBEAFE"/>
                </a:solidFill>
                <a:latin typeface="Arial"/>
              </a:rPr>
              <a:t>منصة الاختبارات الإلكترونية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2800" b="1" i="0">
                <a:solidFill>
                  <a:srgbClr val="FFFFFF"/>
                </a:solidFill>
                <a:latin typeface="Arial"/>
              </a:rPr>
              <a:t>لوحة تحكم المحاضر والإداري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1">
                <a:solidFill>
                  <a:srgbClr val="06B6D4"/>
                </a:solidFill>
                <a:latin typeface="Arial"/>
              </a:rPr>
              <a:t>إدارة الاختبارات · إنشاء · إضافة أسئلة · النتائج</a:t>
            </a:r>
          </a:p>
        </p:txBody>
      </p:sp>
      <p:sp>
        <p:nvSpPr>
          <p:cNvPr id="7" name="Rectangle 6"/>
          <p:cNvSpPr/>
          <p:nvPr/>
        </p:nvSpPr>
        <p:spPr>
          <a:xfrm>
            <a:off x="6208776" y="1408176"/>
            <a:ext cx="5806440" cy="260604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72200" y="1371600"/>
            <a:ext cx="5806440" cy="2606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8_admin_quizz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371600"/>
            <a:ext cx="5806440" cy="26060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72200" y="4005072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100" b="1" i="0">
                <a:solidFill>
                  <a:srgbClr val="059669"/>
                </a:solidFill>
                <a:latin typeface="Arial"/>
              </a:rPr>
              <a:t>إدارة الاختبارات /admin/quizzes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08776" y="4379976"/>
            <a:ext cx="5806440" cy="20756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4343400"/>
            <a:ext cx="5806440" cy="2075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11_quiz_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4343400"/>
            <a:ext cx="5806440" cy="207568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172200" y="6428232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100" b="1" i="0">
                <a:solidFill>
                  <a:srgbClr val="7C3AED"/>
                </a:solidFill>
                <a:latin typeface="Arial"/>
              </a:rPr>
              <a:t>نتائج الاختبار /admin/quizzes/[id]/results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1371600"/>
            <a:ext cx="5715000" cy="457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1408176"/>
            <a:ext cx="5486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400" b="1" i="0">
                <a:solidFill>
                  <a:srgbClr val="FFFFFF"/>
                </a:solidFill>
                <a:latin typeface="Arial"/>
              </a:rPr>
              <a:t>إدارة الاختبارات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1865376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0" i="0">
                <a:solidFill>
                  <a:srgbClr val="1F2937"/>
                </a:solidFill>
                <a:latin typeface="Arial"/>
              </a:rPr>
              <a:t>◆  عرض كل الاختبارات في جدول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2185416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0" i="0">
                <a:solidFill>
                  <a:srgbClr val="1F2937"/>
                </a:solidFill>
                <a:latin typeface="Arial"/>
              </a:rPr>
              <a:t>◆  تبديل حالة النشر is_published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2505456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0" i="0">
                <a:solidFill>
                  <a:srgbClr val="1F2937"/>
                </a:solidFill>
                <a:latin typeface="Arial"/>
              </a:rPr>
              <a:t>◆  روابط لإضافة أسئلة وعرض النتائج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2697480"/>
            <a:ext cx="571500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2734056"/>
            <a:ext cx="5486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400" b="1" i="0">
                <a:solidFill>
                  <a:srgbClr val="FFFFFF"/>
                </a:solidFill>
                <a:latin typeface="Arial"/>
              </a:rPr>
              <a:t>إنشاء اختبار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3191256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0" i="0">
                <a:solidFill>
                  <a:srgbClr val="1F2937"/>
                </a:solidFill>
                <a:latin typeface="Arial"/>
              </a:rPr>
              <a:t>◆  POST /api/quizzes/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" y="3511296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0" i="0">
                <a:solidFill>
                  <a:srgbClr val="1F2937"/>
                </a:solidFill>
                <a:latin typeface="Arial"/>
              </a:rPr>
              <a:t>◆  العنوان، الوصف، التصنيف، الوقت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" y="4023360"/>
            <a:ext cx="571500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4059936"/>
            <a:ext cx="5486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400" b="1" i="0">
                <a:solidFill>
                  <a:srgbClr val="FFFFFF"/>
                </a:solidFill>
                <a:latin typeface="Arial"/>
              </a:rPr>
              <a:t>إضافة أسئلة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4517136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0" i="0">
                <a:solidFill>
                  <a:srgbClr val="1F2937"/>
                </a:solidFill>
                <a:latin typeface="Arial"/>
              </a:rPr>
              <a:t>◆  POST /api/questions/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4837176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0" i="0">
                <a:solidFill>
                  <a:srgbClr val="1F2937"/>
                </a:solidFill>
                <a:latin typeface="Arial"/>
              </a:rPr>
              <a:t>◆  MCQ + إجابة قصيرة + النقاط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" y="5349240"/>
            <a:ext cx="5715000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5385816"/>
            <a:ext cx="5486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400" b="1" i="0">
                <a:solidFill>
                  <a:srgbClr val="FFFFFF"/>
                </a:solidFill>
                <a:latin typeface="Arial"/>
              </a:rPr>
              <a:t>نتائج الاختبار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5843016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0" i="0">
                <a:solidFill>
                  <a:srgbClr val="1F2937"/>
                </a:solidFill>
                <a:latin typeface="Arial"/>
              </a:rPr>
              <a:t>◆  إحصاءات: المتوسط، الأعلى، الأدنى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" y="6163056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0" i="0">
                <a:solidFill>
                  <a:srgbClr val="1F2937"/>
                </a:solidFill>
                <a:latin typeface="Arial"/>
              </a:rPr>
              <a:t>◆  جدول الطلاب مع بحث فوري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0A1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" y="649224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a:rtl="1"/>
            <a:r>
              <a:rPr sz="1100" b="0" i="0">
                <a:solidFill>
                  <a:srgbClr val="DBEAFE"/>
                </a:solidFill>
                <a:latin typeface="Arial"/>
              </a:rPr>
              <a:t>Frontend — Slide 7 / 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0" y="649224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100" b="0" i="0">
                <a:solidFill>
                  <a:srgbClr val="DBEAFE"/>
                </a:solidFill>
                <a:latin typeface="Arial"/>
              </a:rPr>
              <a:t>منصة الاختبارات الإلكترونية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2600" b="1" i="0">
                <a:solidFill>
                  <a:srgbClr val="FFFFFF"/>
                </a:solidFill>
                <a:latin typeface="Arial"/>
              </a:rPr>
              <a:t>البنية التقنية والصفحات المنجزة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914400"/>
            <a:ext cx="2743200" cy="5486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950976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300" b="1" i="0">
                <a:solidFill>
                  <a:srgbClr val="FFFFFF"/>
                </a:solidFill>
                <a:latin typeface="Arial"/>
              </a:rPr>
              <a:t>المتصفح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35808" y="1005840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2000" b="1" i="0">
                <a:solidFill>
                  <a:srgbClr val="06B6D4"/>
                </a:solidFill>
                <a:latin typeface="Arial"/>
              </a:rPr>
              <a:t>-&gt;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914400"/>
            <a:ext cx="2743200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950976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300" b="1" i="0">
                <a:solidFill>
                  <a:srgbClr val="FFFFFF"/>
                </a:solidFill>
                <a:latin typeface="Arial"/>
              </a:rPr>
              <a:t>Next.js Pages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53327" y="1005840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2000" b="1" i="0">
                <a:solidFill>
                  <a:srgbClr val="06B6D4"/>
                </a:solidFill>
                <a:latin typeface="Arial"/>
              </a:rPr>
              <a:t>-&gt;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914400"/>
            <a:ext cx="2743200" cy="548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950976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300" b="1" i="0">
                <a:solidFill>
                  <a:srgbClr val="FFFFFF"/>
                </a:solidFill>
                <a:latin typeface="Arial"/>
              </a:rPr>
              <a:t>API Proxy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70848" y="1005840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2000" b="1" i="0">
                <a:solidFill>
                  <a:srgbClr val="06B6D4"/>
                </a:solidFill>
                <a:latin typeface="Arial"/>
              </a:rPr>
              <a:t>-&gt;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35440" y="914400"/>
            <a:ext cx="2743200" cy="5486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0" y="950976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300" b="1" i="0">
                <a:solidFill>
                  <a:srgbClr val="FFFFFF"/>
                </a:solidFill>
                <a:latin typeface="Arial"/>
              </a:rPr>
              <a:t>Django REST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5176" y="1682496"/>
            <a:ext cx="1920240" cy="11887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" y="1645920"/>
            <a:ext cx="192024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1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645920"/>
            <a:ext cx="1920240" cy="11887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2860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900" b="0" i="0">
                <a:solidFill>
                  <a:srgbClr val="DBEAFE"/>
                </a:solidFill>
                <a:latin typeface="Arial"/>
              </a:rPr>
              <a:t>/login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95144" y="1682496"/>
            <a:ext cx="1920240" cy="11887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258568" y="1645920"/>
            <a:ext cx="192024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02_regi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8568" y="1645920"/>
            <a:ext cx="1920240" cy="11887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2258568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900" b="0" i="0">
                <a:solidFill>
                  <a:srgbClr val="DBEAFE"/>
                </a:solidFill>
                <a:latin typeface="Arial"/>
              </a:rPr>
              <a:t>/register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25112" y="1682496"/>
            <a:ext cx="1920240" cy="11887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88536" y="1645920"/>
            <a:ext cx="192024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03_dash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8536" y="1645920"/>
            <a:ext cx="1920240" cy="118872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288536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900" b="0" i="0">
                <a:solidFill>
                  <a:srgbClr val="DBEAFE"/>
                </a:solidFill>
                <a:latin typeface="Arial"/>
              </a:rPr>
              <a:t>/dashboard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5080" y="1682496"/>
            <a:ext cx="1920240" cy="11887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18504" y="1645920"/>
            <a:ext cx="192024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04_quiz_tak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8504" y="1645920"/>
            <a:ext cx="1920240" cy="118872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318504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900" b="0" i="0">
                <a:solidFill>
                  <a:srgbClr val="DBEAFE"/>
                </a:solidFill>
                <a:latin typeface="Arial"/>
              </a:rPr>
              <a:t>/quiz/[id]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385048" y="1682496"/>
            <a:ext cx="1920240" cy="11887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348472" y="1645920"/>
            <a:ext cx="192024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05_quiz_resul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8472" y="1645920"/>
            <a:ext cx="1920240" cy="118872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348472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900" b="0" i="0">
                <a:solidFill>
                  <a:srgbClr val="DBEAFE"/>
                </a:solidFill>
                <a:latin typeface="Arial"/>
              </a:rPr>
              <a:t>/quiz/result/[id]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415016" y="1682496"/>
            <a:ext cx="1920240" cy="11887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378440" y="1645920"/>
            <a:ext cx="192024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06_student_attempt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78440" y="1645920"/>
            <a:ext cx="1920240" cy="118872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37844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900" b="0" i="0">
                <a:solidFill>
                  <a:srgbClr val="DBEAFE"/>
                </a:solidFill>
                <a:latin typeface="Arial"/>
              </a:rPr>
              <a:t>/student/attempts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65176" y="3392424"/>
            <a:ext cx="1920240" cy="11887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28600" y="3355848"/>
            <a:ext cx="192024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07_attempt_detai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8600" y="3355848"/>
            <a:ext cx="1920240" cy="118872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228600" y="456285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900" b="0" i="0">
                <a:solidFill>
                  <a:srgbClr val="DBEAFE"/>
                </a:solidFill>
                <a:latin typeface="Arial"/>
              </a:rPr>
              <a:t>/student/attempts/[id]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295144" y="3392424"/>
            <a:ext cx="1920240" cy="11887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258568" y="3355848"/>
            <a:ext cx="192024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08_admin_quizze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58568" y="3355848"/>
            <a:ext cx="1920240" cy="118872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2258568" y="456285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900" b="0" i="0">
                <a:solidFill>
                  <a:srgbClr val="DBEAFE"/>
                </a:solidFill>
                <a:latin typeface="Arial"/>
              </a:rPr>
              <a:t>/admin/quizzes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325112" y="3392424"/>
            <a:ext cx="1920240" cy="11887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288536" y="3355848"/>
            <a:ext cx="192024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09_create_quiz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88536" y="3355848"/>
            <a:ext cx="1920240" cy="118872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4288536" y="456285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900" b="0" i="0">
                <a:solidFill>
                  <a:srgbClr val="DBEAFE"/>
                </a:solidFill>
                <a:latin typeface="Arial"/>
              </a:rPr>
              <a:t>/admin/quizzes/create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55080" y="3392424"/>
            <a:ext cx="1920240" cy="11887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318504" y="3355848"/>
            <a:ext cx="192024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10_add_questio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18504" y="3355848"/>
            <a:ext cx="1920240" cy="118872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6318504" y="456285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900" b="0" i="0">
                <a:solidFill>
                  <a:srgbClr val="DBEAFE"/>
                </a:solidFill>
                <a:latin typeface="Arial"/>
              </a:rPr>
              <a:t>/admin/.../add-question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385048" y="3392424"/>
            <a:ext cx="1920240" cy="11887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348472" y="3355848"/>
            <a:ext cx="192024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11_quiz_result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48472" y="3355848"/>
            <a:ext cx="1920240" cy="1188720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8348472" y="456285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900" b="0" i="0">
                <a:solidFill>
                  <a:srgbClr val="DBEAFE"/>
                </a:solidFill>
                <a:latin typeface="Arial"/>
              </a:rPr>
              <a:t>/admin/.../results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28600" y="5806440"/>
            <a:ext cx="11750040" cy="658368"/>
          </a:xfrm>
          <a:prstGeom prst="rect">
            <a:avLst/>
          </a:prstGeom>
          <a:solidFill>
            <a:srgbClr val="122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5852160"/>
            <a:ext cx="11521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200" b="0" i="0">
                <a:solidFill>
                  <a:srgbClr val="DBEAFE"/>
                </a:solidFill>
                <a:latin typeface="Arial"/>
              </a:rPr>
              <a:t>Catch-all Proxy · Silent Token Refresh · useParams() · selected_choice_ids[] · toLowercase للأدوار · Trailing Slash استثناءات</a:t>
            </a:r>
          </a:p>
        </p:txBody>
      </p:sp>
      <p:sp>
        <p:nvSpPr>
          <p:cNvPr id="63" name="Rectangle 62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0A1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74320" y="649224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a:rtl="1"/>
            <a:r>
              <a:rPr sz="1100" b="0" i="0">
                <a:solidFill>
                  <a:srgbClr val="DBEAFE"/>
                </a:solidFill>
                <a:latin typeface="Arial"/>
              </a:rPr>
              <a:t>Frontend — Slide 8 / 8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486400" y="649224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100" b="0" i="0">
                <a:solidFill>
                  <a:srgbClr val="DBEAFE"/>
                </a:solidFill>
                <a:latin typeface="Arial"/>
              </a:rPr>
              <a:t>منصة الاختبارات الإلكترونية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